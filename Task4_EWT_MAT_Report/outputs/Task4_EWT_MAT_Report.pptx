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Monthly Limits &amp; Deposits Tracking Report | Citi Finance | March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2D72"/>
                </a:solidFill>
                <a:latin typeface="Arial"/>
              </a:defRPr>
            </a:pPr>
            <a:r>
              <a:t>EWT &amp; MAT Breach Report - Jan/Feb 2023 Positions (Entities 1-3)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  <a:latin typeface="Arial"/>
              </a:defRPr>
            </a:pPr>
            <a:r>
              <a:t>This report analyzes daily deposit and loan data for Entities 1, 2, and 3 (Jan 1 - Feb 28, 2023) against Early Warning Triggers (EWT) and Management Action Triggers (MAT) per Treasurer policy.</a:t>
            </a:r>
            <a:br/>
            <a:br/>
            <a:r>
              <a:t>KEY FINDINGS:</a:t>
            </a:r>
            <a:br/>
            <a:r>
              <a:t>• Entity 2 is the primary concern with multiple EWT breaches and a confirmed MAT breach (surplus negative on 2 days, reaching -$13.2m).</a:t>
            </a:r>
            <a:br/>
            <a:r>
              <a:t>• Deposit attrition and rapid loan growth in Entity 2 have eroded the liquidity buffer below policy thresholds.</a:t>
            </a:r>
            <a:br/>
            <a:r>
              <a:t>• Stressed surplus (assuming 10% deposit outflow + 5% loan increase) shows heightened vulnerability in adverse conditions.</a:t>
            </a:r>
            <a:br/>
            <a:r>
              <a:t>• Entities 1 and 3 show minor EWT flags but remain compliant with MAT (surplus positive throughout).</a:t>
            </a:r>
            <a:br/>
            <a:br/>
            <a:r>
              <a:t>RECOMMENDATION: Immediate escalation of Entity 2 to CFO; implement deposit retention actions and loan growth pause. Full remediation plan due within 10 business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05050"/>
                </a:solidFill>
                <a:latin typeface="Arial"/>
              </a:defRPr>
            </a:pPr>
            <a:r>
              <a:t>Citi Finance | Country Treasurer &amp; CFO Report | March 2023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Risk Triggers Monitoring - Early Warning Triggers (EWT) Breaches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Breach Count / Level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Magnitude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2D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Entity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Deposit Drop &gt;3% DoD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8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Max -4.0%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EWT Breached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Entity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Loan Increase &gt;5% DoD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Max +8.0%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EWT Breached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Entity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Loan Growth &gt;50% from 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+60.1%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EWT Breached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Entity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MAT: Surplus &lt; 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Min -$13.2m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C00000"/>
                          </a:solidFill>
                          <a:latin typeface="Arial"/>
                        </a:defRPr>
                      </a:pPr>
                      <a:r>
                        <a:t>MAT BREACHED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Entity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EWT: Surplus &lt;50%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Min vs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EWT Breached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Entity 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Minor Deposit Drops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4-5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&lt;-4%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EWT (Low)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02336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EWT Policy Context: These triggers are calibrated to provide early signals of balance sheet stress (e.g., client deposit flight or aggressive lending) allowing preemptive action before MAT levels are reached. Entity 2 exhibits the most severe concentration of breaches, driven by both deposit attrition and accelerated loan growth (60%+ from Jan baseline). No MAT breaches in Entities 1 or 3, though minor deposit volatility warrants monitoring. Data quality note: Entity 1 has several missing daily observations (filled with period mean for analysis).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05050"/>
                </a:solidFill>
                <a:latin typeface="Arial"/>
              </a:defRPr>
            </a:pPr>
            <a:r>
              <a:t>Citi Finance | Country Treasurer &amp; CFO Report | March 2023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Management Action Triggers (MAT) &amp; Surplus Movement Charts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303520" cy="2011680"/>
          </a:xfrm>
          <a:prstGeom prst="roundRect">
            <a:avLst/>
          </a:prstGeom>
          <a:solidFill>
            <a:srgbClr val="FFEBEB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</a:defRPr>
            </a:pPr>
            <a:r>
              <a:t>⚠ MAT BREACH - ENTITY 2</a:t>
            </a:r>
          </a:p>
          <a:p>
            <a:pPr>
              <a:defRPr sz="900">
                <a:solidFill>
                  <a:srgbClr val="505050"/>
                </a:solidFill>
              </a:defRPr>
            </a:pPr>
            <a:r>
              <a:t>Surplus fell below $0 on 2 days in Feb 2023 (min -$13.2m). This constitutes a formal Management Action Trigger breach requiring immediate escalation per policy.</a:t>
            </a:r>
            <a:br/>
            <a:br/>
            <a:r>
              <a:t>Actions: Notify CFO within 24h; prepare liquidity contingency plan; client outreach for deposit retention.</a:t>
            </a:r>
          </a:p>
        </p:txBody>
      </p:sp>
      <p:pic>
        <p:nvPicPr>
          <p:cNvPr id="6" name="Picture 5" descr="surplus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188720"/>
            <a:ext cx="6217920" cy="463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383280"/>
            <a:ext cx="11612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  <a:latin typeface="Arial"/>
              </a:defRPr>
            </a:pPr>
            <a:r>
              <a:t>Chart Notes: Blue = actual surplus (Deposits - Loans). Red dashed = stressed scenario (Dep -10%, Loan +5%). Red line = MAT threshold ($0). Orange = EWT (50% of max surplus). Entity 2 clearly breaches both EWT and MAT; stressed view shows amplified risk. Entity 1 surplus remains positive but data gaps limit precision. Entity 3 is stable with comfortable buffer.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05050"/>
                </a:solidFill>
                <a:latin typeface="Arial"/>
              </a:defRPr>
            </a:pPr>
            <a:r>
              <a:t>Citi Finance | Country Treasurer &amp; CFO Report | March 2023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Recommendations &amp; Next Steps for Country Treasurer &amp; CFO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11612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  <a:latin typeface="Arial"/>
              </a:defRPr>
            </a:pPr>
            <a:r>
              <a:t>IMMEDIATE (within 48 hours):</a:t>
            </a:r>
            <a:br/>
            <a:r>
              <a:t>• Escalate Entity 2 MAT breach to CFO and Group Treasurer.</a:t>
            </a:r>
            <a:br/>
            <a:r>
              <a:t>• Issue formal notification to Entity 2 CEO/Finance Head; request root-cause analysis (client attrition? competitive pressure?).</a:t>
            </a:r>
            <a:br/>
            <a:br/>
            <a:r>
              <a:t>SHORT-TERM (within 10 business days):</a:t>
            </a:r>
            <a:br/>
            <a:r>
              <a:t>• Deploy targeted deposit retention campaigns (rate specials, relationship reviews) for Entity 2 top clients.</a:t>
            </a:r>
            <a:br/>
            <a:r>
              <a:t>• Pause new loan originations in Entity 2 pending surplus recovery above EWT threshold.</a:t>
            </a:r>
            <a:br/>
            <a:r>
              <a:t>• Enhance daily monitoring dashboard with automated EWT/MAT alerts for all entities.</a:t>
            </a:r>
            <a:br/>
            <a:br/>
            <a:r>
              <a:t>MEDIUM-TERM (Q2 2023):</a:t>
            </a:r>
            <a:br/>
            <a:r>
              <a:t>• Conduct full review of EWT/MAT threshold calibration in light of 2023 rate environment and post-pandemic deposit behavior.</a:t>
            </a:r>
            <a:br/>
            <a:r>
              <a:t>• Improve data quality controls with Deposits &amp; Loans team (Entity 1 gaps).</a:t>
            </a:r>
            <a:br/>
            <a:r>
              <a:t>• Stress-test liquidity contingency plans incorporating combined deposit/loan shocks.</a:t>
            </a:r>
            <a:br/>
            <a:br/>
            <a:r>
              <a:t>The Entity 2 situation, while contained, underscores the importance of proactive monitoring. No systemic risk to the franchise, but timely action will prevent escalation and protect the 2023 P&amp;L.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05050"/>
                </a:solidFill>
                <a:latin typeface="Arial"/>
              </a:defRPr>
            </a:pPr>
            <a:r>
              <a:t>Citi Finance | Country Treasurer &amp; CFO Report | March 2023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