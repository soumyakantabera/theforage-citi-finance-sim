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748">
          <p15:clr>
            <a:srgbClr val="A4A3A4"/>
          </p15:clr>
        </p15:guide>
        <p15:guide id="2" orient="horz" pos="4198">
          <p15:clr>
            <a:srgbClr val="A4A3A4"/>
          </p15:clr>
        </p15:guide>
        <p15:guide id="3" orient="horz" pos="2183">
          <p15:clr>
            <a:srgbClr val="A4A3A4"/>
          </p15:clr>
        </p15:guide>
        <p15:guide id="4" orient="horz" pos="3668">
          <p15:clr>
            <a:srgbClr val="A4A3A4"/>
          </p15:clr>
        </p15:guide>
        <p15:guide id="5" orient="horz" pos="527">
          <p15:clr>
            <a:srgbClr val="A4A3A4"/>
          </p15:clr>
        </p15:guide>
        <p15:guide id="6" pos="7483">
          <p15:clr>
            <a:srgbClr val="A4A3A4"/>
          </p15:clr>
        </p15:guide>
        <p15:guide id="7" pos="180">
          <p15:clr>
            <a:srgbClr val="A4A3A4"/>
          </p15:clr>
        </p15:guide>
        <p15:guide id="8" pos="2819">
          <p15:clr>
            <a:srgbClr val="A4A3A4"/>
          </p15:clr>
        </p15:guide>
        <p15:guide id="9" pos="1935">
          <p15:clr>
            <a:srgbClr val="A4A3A4"/>
          </p15:clr>
        </p15:guide>
        <p15:guide id="10" orient="horz" pos="1003">
          <p15:clr>
            <a:srgbClr val="A4A3A4"/>
          </p15:clr>
        </p15:guide>
        <p15:guide id="11" orient="horz" pos="3770">
          <p15:clr>
            <a:srgbClr val="A4A3A4"/>
          </p15:clr>
        </p15:guide>
        <p15:guide id="12" orient="horz" pos="3374">
          <p15:clr>
            <a:srgbClr val="A4A3A4"/>
          </p15:clr>
        </p15:guide>
        <p15:guide id="13" orient="horz" pos="13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" roundtripDataSignature="AMtx7mivVH/MGSj5zQEUP0AlfxRthqWr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117" d="100"/>
          <a:sy n="117" d="100"/>
        </p:scale>
        <p:origin x="360" y="168"/>
      </p:cViewPr>
      <p:guideLst>
        <p:guide orient="horz" pos="3748"/>
        <p:guide orient="horz" pos="4198"/>
        <p:guide orient="horz" pos="2183"/>
        <p:guide orient="horz" pos="3668"/>
        <p:guide orient="horz" pos="527"/>
        <p:guide pos="7483"/>
        <p:guide pos="180"/>
        <p:guide pos="2819"/>
        <p:guide pos="1935"/>
        <p:guide orient="horz" pos="1003"/>
        <p:guide orient="horz" pos="3770"/>
        <p:guide orient="horz" pos="3374"/>
        <p:guide orient="horz" pos="132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10" Type="http://customschemas.google.com/relationships/presentationmetadata" Target="meta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6" y="4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305" y="4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6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 txBox="1">
            <a:spLocks noGrp="1"/>
          </p:cNvSpPr>
          <p:nvPr>
            <p:ph type="sldNum" idx="12"/>
          </p:nvPr>
        </p:nvSpPr>
        <p:spPr>
          <a:xfrm>
            <a:off x="3854450" y="9445625"/>
            <a:ext cx="2949575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:notes"/>
          <p:cNvSpPr txBox="1"/>
          <p:nvPr/>
        </p:nvSpPr>
        <p:spPr>
          <a:xfrm>
            <a:off x="3854450" y="9444038"/>
            <a:ext cx="2949575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50" tIns="45475" rIns="90950" bIns="454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3" y="749300"/>
            <a:ext cx="6623050" cy="3725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p1:notes"/>
          <p:cNvSpPr txBox="1">
            <a:spLocks noGrp="1"/>
          </p:cNvSpPr>
          <p:nvPr>
            <p:ph type="body" idx="1"/>
          </p:nvPr>
        </p:nvSpPr>
        <p:spPr>
          <a:xfrm>
            <a:off x="681038" y="4722813"/>
            <a:ext cx="5445125" cy="447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50" tIns="45475" rIns="90950" bIns="454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:notes"/>
          <p:cNvSpPr txBox="1">
            <a:spLocks noGrp="1"/>
          </p:cNvSpPr>
          <p:nvPr>
            <p:ph type="sldNum" idx="12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:notes"/>
          <p:cNvSpPr txBox="1">
            <a:spLocks noGrp="1"/>
          </p:cNvSpPr>
          <p:nvPr>
            <p:ph type="sldNum" idx="12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4:notes"/>
          <p:cNvSpPr txBox="1">
            <a:spLocks noGrp="1"/>
          </p:cNvSpPr>
          <p:nvPr>
            <p:ph type="body" idx="1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:notes"/>
          <p:cNvSpPr txBox="1">
            <a:spLocks noGrp="1"/>
          </p:cNvSpPr>
          <p:nvPr>
            <p:ph type="sldNum" idx="12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6"/>
          <p:cNvGrpSpPr/>
          <p:nvPr/>
        </p:nvGrpSpPr>
        <p:grpSpPr>
          <a:xfrm>
            <a:off x="280446" y="687258"/>
            <a:ext cx="11587156" cy="586078"/>
            <a:chOff x="215900" y="1382939"/>
            <a:chExt cx="6998377" cy="430678"/>
          </a:xfrm>
        </p:grpSpPr>
        <p:sp>
          <p:nvSpPr>
            <p:cNvPr id="19" name="Google Shape;19;p6"/>
            <p:cNvSpPr/>
            <p:nvPr/>
          </p:nvSpPr>
          <p:spPr>
            <a:xfrm>
              <a:off x="215900" y="1382940"/>
              <a:ext cx="585009" cy="430326"/>
            </a:xfrm>
            <a:prstGeom prst="homePlate">
              <a:avLst>
                <a:gd name="adj" fmla="val 33648"/>
              </a:avLst>
            </a:prstGeom>
            <a:solidFill>
              <a:srgbClr val="002D7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6"/>
            <p:cNvSpPr/>
            <p:nvPr/>
          </p:nvSpPr>
          <p:spPr>
            <a:xfrm rot="10800000">
              <a:off x="774827" y="1382939"/>
              <a:ext cx="6439450" cy="430678"/>
            </a:xfrm>
            <a:custGeom>
              <a:avLst/>
              <a:gdLst/>
              <a:ahLst/>
              <a:cxnLst/>
              <a:rect l="l" t="t" r="r" b="b"/>
              <a:pathLst>
                <a:path w="8064578" h="300814" extrusionOk="0">
                  <a:moveTo>
                    <a:pt x="28" y="246"/>
                  </a:moveTo>
                  <a:cubicBezTo>
                    <a:pt x="2126" y="-555"/>
                    <a:pt x="5376395" y="833"/>
                    <a:pt x="8064578" y="1127"/>
                  </a:cubicBezTo>
                  <a:lnTo>
                    <a:pt x="7919436" y="154759"/>
                  </a:lnTo>
                  <a:lnTo>
                    <a:pt x="8064578" y="300814"/>
                  </a:lnTo>
                  <a:lnTo>
                    <a:pt x="0" y="299269"/>
                  </a:lnTo>
                  <a:cubicBezTo>
                    <a:pt x="1058" y="203607"/>
                    <a:pt x="14" y="149757"/>
                    <a:pt x="28" y="2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783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2" name="Google Shape;22;p6"/>
          <p:cNvCxnSpPr/>
          <p:nvPr/>
        </p:nvCxnSpPr>
        <p:spPr>
          <a:xfrm>
            <a:off x="271951" y="3152910"/>
            <a:ext cx="7843073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p6"/>
          <p:cNvSpPr/>
          <p:nvPr/>
        </p:nvSpPr>
        <p:spPr>
          <a:xfrm>
            <a:off x="306235" y="5864983"/>
            <a:ext cx="10660185" cy="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" name="Google Shape;24;p6"/>
          <p:cNvGrpSpPr/>
          <p:nvPr/>
        </p:nvGrpSpPr>
        <p:grpSpPr>
          <a:xfrm>
            <a:off x="274785" y="5904672"/>
            <a:ext cx="11625520" cy="46038"/>
            <a:chOff x="-540381" y="5887508"/>
            <a:chExt cx="9457729" cy="46038"/>
          </a:xfrm>
        </p:grpSpPr>
        <p:sp>
          <p:nvSpPr>
            <p:cNvPr id="25" name="Google Shape;25;p6"/>
            <p:cNvSpPr/>
            <p:nvPr/>
          </p:nvSpPr>
          <p:spPr>
            <a:xfrm>
              <a:off x="-540381" y="5887508"/>
              <a:ext cx="8074126" cy="46038"/>
            </a:xfrm>
            <a:custGeom>
              <a:avLst/>
              <a:gdLst/>
              <a:ahLst/>
              <a:cxnLst/>
              <a:rect l="l" t="t" r="r" b="b"/>
              <a:pathLst>
                <a:path w="7638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7638" y="0"/>
                  </a:lnTo>
                </a:path>
              </a:pathLst>
            </a:custGeom>
            <a:noFill/>
            <a:ln w="90475" cap="flat" cmpd="sng">
              <a:solidFill>
                <a:srgbClr val="63666A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6"/>
            <p:cNvSpPr/>
            <p:nvPr/>
          </p:nvSpPr>
          <p:spPr>
            <a:xfrm>
              <a:off x="7639574" y="5887827"/>
              <a:ext cx="1277774" cy="45719"/>
            </a:xfrm>
            <a:custGeom>
              <a:avLst/>
              <a:gdLst/>
              <a:ahLst/>
              <a:cxnLst/>
              <a:rect l="l" t="t" r="r" b="b"/>
              <a:pathLst>
                <a:path w="1357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357" y="0"/>
                  </a:lnTo>
                </a:path>
              </a:pathLst>
            </a:custGeom>
            <a:solidFill>
              <a:srgbClr val="002D72"/>
            </a:solidFill>
            <a:ln w="90475" cap="flat" cmpd="sng">
              <a:solidFill>
                <a:srgbClr val="002D72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271053" y="2388261"/>
            <a:ext cx="784307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800"/>
              <a:buNone/>
              <a:defRPr sz="38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2"/>
          </p:nvPr>
        </p:nvSpPr>
        <p:spPr>
          <a:xfrm>
            <a:off x="288500" y="3292242"/>
            <a:ext cx="784307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2000"/>
              <a:buNone/>
              <a:defRPr sz="20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"/>
          <p:cNvGrpSpPr/>
          <p:nvPr/>
        </p:nvGrpSpPr>
        <p:grpSpPr>
          <a:xfrm>
            <a:off x="289968" y="539749"/>
            <a:ext cx="11587808" cy="460800"/>
            <a:chOff x="215900" y="1382736"/>
            <a:chExt cx="9418637" cy="458544"/>
          </a:xfrm>
        </p:grpSpPr>
        <p:sp>
          <p:nvSpPr>
            <p:cNvPr id="11" name="Google Shape;11;p5"/>
            <p:cNvSpPr/>
            <p:nvPr/>
          </p:nvSpPr>
          <p:spPr>
            <a:xfrm>
              <a:off x="215900" y="1382939"/>
              <a:ext cx="585009" cy="457327"/>
            </a:xfrm>
            <a:prstGeom prst="homePlate">
              <a:avLst>
                <a:gd name="adj" fmla="val 33648"/>
              </a:avLst>
            </a:prstGeom>
            <a:solidFill>
              <a:srgbClr val="002D7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5"/>
            <p:cNvSpPr/>
            <p:nvPr/>
          </p:nvSpPr>
          <p:spPr>
            <a:xfrm rot="10800000">
              <a:off x="781049" y="1382736"/>
              <a:ext cx="8853488" cy="458544"/>
            </a:xfrm>
            <a:custGeom>
              <a:avLst/>
              <a:gdLst/>
              <a:ahLst/>
              <a:cxnLst/>
              <a:rect l="l" t="t" r="r" b="b"/>
              <a:pathLst>
                <a:path w="8064578" h="300568" extrusionOk="0">
                  <a:moveTo>
                    <a:pt x="28" y="0"/>
                  </a:moveTo>
                  <a:cubicBezTo>
                    <a:pt x="-2061" y="71"/>
                    <a:pt x="5376395" y="587"/>
                    <a:pt x="8064578" y="881"/>
                  </a:cubicBezTo>
                  <a:lnTo>
                    <a:pt x="7941669" y="150744"/>
                  </a:lnTo>
                  <a:lnTo>
                    <a:pt x="8064578" y="300568"/>
                  </a:lnTo>
                  <a:lnTo>
                    <a:pt x="0" y="297393"/>
                  </a:lnTo>
                  <a:cubicBezTo>
                    <a:pt x="1058" y="201731"/>
                    <a:pt x="2117" y="-71"/>
                    <a:pt x="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783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Google Shape;13;p5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body" idx="1"/>
          </p:nvPr>
        </p:nvSpPr>
        <p:spPr>
          <a:xfrm>
            <a:off x="806939" y="1125538"/>
            <a:ext cx="11074400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‒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‒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>
            <a:spLocks noGrp="1"/>
          </p:cNvSpPr>
          <p:nvPr>
            <p:ph type="body" idx="2"/>
          </p:nvPr>
        </p:nvSpPr>
        <p:spPr>
          <a:xfrm>
            <a:off x="288500" y="3292242"/>
            <a:ext cx="115605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2800"/>
              <a:buNone/>
            </a:pPr>
            <a:r>
              <a:rPr lang="en-GB" sz="2800" b="1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rPr>
              <a:t xml:space="preserve">Impact </a:t>
            </a:r>
            <a:r>
              <a:rPr lang="en-GB" sz="2800" b="1">
                <a:solidFill>
                  <a:srgbClr val="002D72"/>
                </a:solidFill>
              </a:rPr>
              <a:t>S</a:t>
            </a:r>
            <a:r>
              <a:rPr lang="en-GB" sz="2800" b="1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rPr>
              <a:t>tudy of Omicron on Credit Card Sales</a:t>
            </a:r>
            <a:endParaRPr sz="2800" b="1">
              <a:solidFill>
                <a:srgbClr val="002D7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2000"/>
              <a:buNone/>
            </a:pPr>
            <a:r>
              <a:rPr lang="en-GB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rPr>
              <a:t>Citi Finance</a:t>
            </a:r>
            <a:endParaRPr sz="1800">
              <a:solidFill>
                <a:srgbClr val="002D7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1800"/>
              <a:buNone/>
            </a:pPr>
            <a:endParaRPr sz="1800">
              <a:solidFill>
                <a:srgbClr val="002D7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20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/>
              <a:t>Credit Card Sales vs. COVID-19 Cases</a:t>
            </a:r>
            <a:endParaRPr sz="2000"/>
          </a:p>
        </p:txBody>
      </p:sp>
      <p:sp>
        <p:nvSpPr>
          <p:cNvPr id="44" name="Google Shape;44;p2"/>
          <p:cNvSpPr txBox="1"/>
          <p:nvPr/>
        </p:nvSpPr>
        <p:spPr>
          <a:xfrm>
            <a:off x="319088" y="1272128"/>
            <a:ext cx="11553824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GRAPH 1: Total Credit Card Spending vs. COVID-19 Cases (2020-2021)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Key Observation: Strong negative correlation in 2020 (spending fell ~25% during initial wave). By mid-2021, spending recovered to baseline (~100) despite Delta wave. Critically, during Omicron onset (Nov-Dec 2021), total spending rose ~10% above pre-Omicron levels, demonstrating consumer resilience and adaptation. No evidence of spending contraction entering the Omicron period.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" name="Picture 44" descr="graph1_total_vs_c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11430000" cy="3291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/>
              <a:t>Detailed Credit Card Sales vs. COVID-19 Cases</a:t>
            </a:r>
            <a:endParaRPr sz="2000"/>
          </a:p>
        </p:txBody>
      </p:sp>
      <p:sp>
        <p:nvSpPr>
          <p:cNvPr id="51" name="Google Shape;51;p3"/>
          <p:cNvSpPr txBox="1"/>
          <p:nvPr/>
        </p:nvSpPr>
        <p:spPr>
          <a:xfrm>
            <a:off x="319088" y="1272128"/>
            <a:ext cx="11553824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GRAPH 2: Credit Card Spending by Category (Delayable, Social, Staples, Work-related) vs. COVID-19 Waves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Category Insights: Social spending (travel/eating out) was most impacted in 2020 (-60%+), but rebounded sharply by late 2021. Staples remained stable. Delayable and Work-related categories recovered to or above baseline by Q3 2021. All categories showed stability or growth during Omicron onset, indicating broad-based resilience rather than category-specific weakness.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Picture 51" descr="graph2_catego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11430000" cy="3291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/>
              <a:t>Expected Impact of Omicron on Credit Card Sales</a:t>
            </a:r>
            <a:endParaRPr sz="2000"/>
          </a:p>
        </p:txBody>
      </p:sp>
      <p:sp>
        <p:nvSpPr>
          <p:cNvPr id="58" name="Google Shape;58;p4"/>
          <p:cNvSpPr txBox="1"/>
          <p:nvPr/>
        </p:nvSpPr>
        <p:spPr>
          <a:xfrm>
            <a:off x="319088" y="1272128"/>
            <a:ext cx="11553824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GRAPH 3: New COVID-19 Cases (Jan 2020 - May 2022) with Omicron Wave Highlighted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Expected Impact: Omicron caused record daily cases (275k+ in Jan 2022) but occurred in a vastly different context than 2020: high vaccination rates, no widespread lockdowns, and learned consumer behavior. 2021 data shows spending resilience during rising cases (Delta/Omicron), with total spending +10% in Omicron onset vs. pre-wave. Social &amp; Delayable categories—most vulnerable to restrictions—had recovered fully by late 2021. Conclusion: Minimal negative impact expected on 2022 credit card sales. Volumes likely to remain stable or grow modestly as economic normalization continues.</a:t>
            </a:r>
            <a:endParaRPr sz="1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Picture 58" descr="graph3_omicron_c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11430000" cy="3291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</Words>
  <Application>Microsoft Macintosh PowerPoint</Application>
  <PresentationFormat>Widescreen</PresentationFormat>
  <Paragraphs>19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Credit Card Sales vs. COVID-19 Cases</vt:lpstr>
      <vt:lpstr>Detailed Credit Card Sales vs. COVID-19 Cases</vt:lpstr>
      <vt:lpstr>Expected Impact of Omicron on Credit Card Sales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Tammy Tran</cp:lastModifiedBy>
  <cp:revision>1</cp:revision>
  <dcterms:created xsi:type="dcterms:W3CDTF">2015-07-20T16:22:45Z</dcterms:created>
  <dcterms:modified xsi:type="dcterms:W3CDTF">2023-06-01T15:58:40Z</dcterms:modified>
</cp:coreProperties>
</file>